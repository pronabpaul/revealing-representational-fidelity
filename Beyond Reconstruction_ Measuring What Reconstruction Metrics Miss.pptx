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6" r:id="rId3"/>
    <p:sldId id="257" r:id="rId4"/>
    <p:sldId id="258" r:id="rId5"/>
    <p:sldId id="259" r:id="rId6"/>
    <p:sldId id="277" r:id="rId7"/>
    <p:sldId id="280" r:id="rId8"/>
    <p:sldId id="281" r:id="rId9"/>
    <p:sldId id="263" r:id="rId10"/>
    <p:sldId id="284" r:id="rId11"/>
    <p:sldId id="288" r:id="rId12"/>
    <p:sldId id="289" r:id="rId13"/>
    <p:sldId id="290" r:id="rId14"/>
    <p:sldId id="292" r:id="rId15"/>
    <p:sldId id="295" r:id="rId16"/>
    <p:sldId id="298" r:id="rId17"/>
    <p:sldId id="29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1396"/>
  </p:normalViewPr>
  <p:slideViewPr>
    <p:cSldViewPr snapToGrid="0" snapToObjects="1">
      <p:cViewPr varScale="1">
        <p:scale>
          <a:sx n="117" d="100"/>
          <a:sy n="117" d="100"/>
        </p:scale>
        <p:origin x="2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548E03-29BD-4B4E-918F-7F29396DF80F}" type="datetimeFigureOut">
              <a:rPr lang="en-US" smtClean="0"/>
              <a:t>7/19/26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4F1CB-23DD-0545-85B9-D47F474B3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088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03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-1344386"/>
            <a:ext cx="5715000" cy="4001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855" y="208456"/>
            <a:ext cx="9067800" cy="408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B0F0"/>
                </a:solidFill>
              </a:rPr>
              <a:t>CONTINUOUS NEURAL REPRESENTATIONS FOR MEDICAL IMAGING</a:t>
            </a:r>
            <a:endParaRPr sz="2400" b="0" i="0" u="none" dirty="0">
              <a:solidFill>
                <a:srgbClr val="00B0F0"/>
              </a:solidFill>
              <a:latin typeface="DM Sans 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0630" y="780614"/>
            <a:ext cx="11996057" cy="1408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sz="3200" b="1" i="0" u="none" dirty="0">
                <a:solidFill>
                  <a:srgbClr val="F0F9FF"/>
                </a:solidFill>
                <a:latin typeface="Merriweather"/>
              </a:rPr>
              <a:t>Beyond Reconstruction:</a:t>
            </a:r>
            <a:r>
              <a:rPr lang="en-US" sz="3200" b="1" i="0" u="none" dirty="0">
                <a:solidFill>
                  <a:srgbClr val="F0F9FF"/>
                </a:solidFill>
                <a:latin typeface="Merriweather"/>
              </a:rPr>
              <a:t> Measuring What Metrics Missing </a:t>
            </a:r>
            <a:r>
              <a:rPr sz="3200" dirty="0"/>
              <a:t>
</a:t>
            </a:r>
            <a:endParaRPr sz="3200" b="1" i="0" u="none" dirty="0">
              <a:solidFill>
                <a:srgbClr val="F0F9FF"/>
              </a:solidFill>
              <a:latin typeface="Merriweath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B2E0A6-346E-E7CC-4D60-581568695D51}"/>
              </a:ext>
            </a:extLst>
          </p:cNvPr>
          <p:cNvSpPr txBox="1"/>
          <p:nvPr/>
        </p:nvSpPr>
        <p:spPr>
          <a:xfrm>
            <a:off x="914397" y="5148953"/>
            <a:ext cx="92318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rgbClr val="F28C28"/>
                </a:solidFill>
                <a:latin typeface="Inter"/>
              </a:rPr>
              <a:t>Can reconstruction accuracy faithfully characterize a continuous neural representation?</a:t>
            </a:r>
          </a:p>
          <a:p>
            <a:endParaRPr lang="en-US" sz="20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CEEBDEBD-CA6B-E984-3533-6C887C021F58}"/>
              </a:ext>
            </a:extLst>
          </p:cNvPr>
          <p:cNvSpPr/>
          <p:nvPr/>
        </p:nvSpPr>
        <p:spPr>
          <a:xfrm>
            <a:off x="4441370" y="2745383"/>
            <a:ext cx="1436915" cy="457200"/>
          </a:xfrm>
          <a:prstGeom prst="roundRect">
            <a:avLst>
              <a:gd name="adj" fmla="val 16000"/>
            </a:avLst>
          </a:prstGeom>
          <a:solidFill>
            <a:srgbClr val="2E86AB"/>
          </a:solidFill>
          <a:ln/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        CNRs</a:t>
            </a: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D52E2A00-335F-4348-2E94-BAB9568019D3}"/>
              </a:ext>
            </a:extLst>
          </p:cNvPr>
          <p:cNvSpPr/>
          <p:nvPr/>
        </p:nvSpPr>
        <p:spPr>
          <a:xfrm>
            <a:off x="5143500" y="3181814"/>
            <a:ext cx="0" cy="342976"/>
          </a:xfrm>
          <a:prstGeom prst="line">
            <a:avLst/>
          </a:prstGeom>
          <a:noFill/>
          <a:ln w="15875">
            <a:solidFill>
              <a:srgbClr val="A9D6E5"/>
            </a:solidFill>
            <a:prstDash val="solid"/>
          </a:ln>
        </p:spPr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E73A41B5-F626-6BAF-08EB-D5BE82B519DA}"/>
              </a:ext>
            </a:extLst>
          </p:cNvPr>
          <p:cNvSpPr/>
          <p:nvPr/>
        </p:nvSpPr>
        <p:spPr>
          <a:xfrm flipV="1">
            <a:off x="3209083" y="3533001"/>
            <a:ext cx="4073320" cy="4"/>
          </a:xfrm>
          <a:prstGeom prst="line">
            <a:avLst/>
          </a:prstGeom>
          <a:noFill/>
          <a:ln w="15875">
            <a:solidFill>
              <a:srgbClr val="A9D6E5"/>
            </a:solidFill>
            <a:prstDash val="solid"/>
          </a:ln>
        </p:spPr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16F961BE-59F3-2857-C700-D097B2217812}"/>
              </a:ext>
            </a:extLst>
          </p:cNvPr>
          <p:cNvSpPr/>
          <p:nvPr/>
        </p:nvSpPr>
        <p:spPr>
          <a:xfrm>
            <a:off x="3209083" y="3533001"/>
            <a:ext cx="28" cy="290065"/>
          </a:xfrm>
          <a:prstGeom prst="line">
            <a:avLst/>
          </a:prstGeom>
          <a:noFill/>
          <a:ln w="15875">
            <a:solidFill>
              <a:srgbClr val="A9D6E5"/>
            </a:solidFill>
            <a:prstDash val="solid"/>
          </a:ln>
        </p:spPr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6529FDE0-1B5D-E521-0060-7CE74B8E2C9E}"/>
              </a:ext>
            </a:extLst>
          </p:cNvPr>
          <p:cNvSpPr/>
          <p:nvPr/>
        </p:nvSpPr>
        <p:spPr>
          <a:xfrm>
            <a:off x="7269425" y="3533006"/>
            <a:ext cx="27" cy="290065"/>
          </a:xfrm>
          <a:prstGeom prst="line">
            <a:avLst/>
          </a:prstGeom>
          <a:noFill/>
          <a:ln w="15875">
            <a:solidFill>
              <a:srgbClr val="A9D6E5"/>
            </a:solidFill>
            <a:prstDash val="solid"/>
          </a:ln>
        </p:spPr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14863419-7869-DCC6-F539-F5D8D6F54574}"/>
              </a:ext>
            </a:extLst>
          </p:cNvPr>
          <p:cNvSpPr/>
          <p:nvPr/>
        </p:nvSpPr>
        <p:spPr>
          <a:xfrm>
            <a:off x="2129249" y="3844844"/>
            <a:ext cx="2192381" cy="768530"/>
          </a:xfrm>
          <a:prstGeom prst="roundRect">
            <a:avLst>
              <a:gd name="adj" fmla="val 14545"/>
            </a:avLst>
          </a:prstGeom>
          <a:solidFill>
            <a:srgbClr val="1B3358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rPr lang="en-US" dirty="0"/>
              <a:t>Reconstruction</a:t>
            </a:r>
          </a:p>
          <a:p>
            <a:r>
              <a:rPr lang="en-US" dirty="0">
                <a:solidFill>
                  <a:srgbClr val="00B0F0"/>
                </a:solidFill>
              </a:rPr>
              <a:t>(Dice, HD95, ASD)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FA58DDD1-8F6F-8D02-E675-90A9BD3C53D5}"/>
              </a:ext>
            </a:extLst>
          </p:cNvPr>
          <p:cNvSpPr/>
          <p:nvPr/>
        </p:nvSpPr>
        <p:spPr>
          <a:xfrm>
            <a:off x="6026319" y="3812180"/>
            <a:ext cx="2529838" cy="791483"/>
          </a:xfrm>
          <a:prstGeom prst="roundRect">
            <a:avLst>
              <a:gd name="adj" fmla="val 14545"/>
            </a:avLst>
          </a:prstGeom>
          <a:solidFill>
            <a:srgbClr val="1B3358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rPr lang="en-US" dirty="0"/>
              <a:t>Representation</a:t>
            </a:r>
          </a:p>
          <a:p>
            <a:r>
              <a:rPr lang="en-US" dirty="0">
                <a:solidFill>
                  <a:srgbClr val="00B0F0"/>
                </a:solidFill>
              </a:rPr>
              <a:t>(Geometry, Latent, RFI)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6F09D3-39CF-ADFB-2D9B-4CB93893D84D}"/>
              </a:ext>
            </a:extLst>
          </p:cNvPr>
          <p:cNvSpPr txBox="1"/>
          <p:nvPr/>
        </p:nvSpPr>
        <p:spPr>
          <a:xfrm>
            <a:off x="185052" y="6313714"/>
            <a:ext cx="10543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Pronab</a:t>
            </a:r>
            <a:r>
              <a:rPr lang="en-US" dirty="0">
                <a:solidFill>
                  <a:schemeClr val="bg1"/>
                </a:solidFill>
              </a:rPr>
              <a:t> Kumar Paul, Department of Information and Communication Engineering, University of </a:t>
            </a:r>
            <a:r>
              <a:rPr lang="en-US" dirty="0" err="1">
                <a:solidFill>
                  <a:schemeClr val="bg1"/>
                </a:solidFill>
              </a:rPr>
              <a:t>Rajshahi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en-US" dirty="0"/>
          </a:p>
        </p:txBody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53ECC0C7-4201-0FC3-A561-F396DDC16005}"/>
              </a:ext>
            </a:extLst>
          </p:cNvPr>
          <p:cNvSpPr/>
          <p:nvPr/>
        </p:nvSpPr>
        <p:spPr>
          <a:xfrm>
            <a:off x="3997236" y="2026921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1B3358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      Medical Images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73C11B40-47A7-5863-CF78-7BFA66EBFFE4}"/>
              </a:ext>
            </a:extLst>
          </p:cNvPr>
          <p:cNvSpPr/>
          <p:nvPr/>
        </p:nvSpPr>
        <p:spPr>
          <a:xfrm>
            <a:off x="5151988" y="2495007"/>
            <a:ext cx="0" cy="228600"/>
          </a:xfrm>
          <a:prstGeom prst="line">
            <a:avLst/>
          </a:prstGeom>
          <a:noFill/>
          <a:ln w="15875">
            <a:solidFill>
              <a:srgbClr val="A9D6E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5988" y="2011680"/>
            <a:ext cx="1036015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i="1">
                <a:solidFill>
                  <a:srgbClr val="000000"/>
                </a:solidFill>
                <a:latin typeface="Georgia"/>
              </a:rPr>
              <a:t>Can reconstruction accuracy faithfully</a:t>
            </a:r>
            <a:br/>
            <a:r>
              <a:rPr sz="4400" i="1">
                <a:solidFill>
                  <a:srgbClr val="000000"/>
                </a:solidFill>
                <a:latin typeface="Georgia"/>
              </a:rPr>
              <a:t>characterize a continuous neural representation?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273104" y="4434840"/>
            <a:ext cx="1645920" cy="18288"/>
          </a:xfrm>
          <a:prstGeom prst="rect">
            <a:avLst/>
          </a:prstGeom>
          <a:solidFill>
            <a:srgbClr val="4AACDB"/>
          </a:solidFill>
          <a:ln>
            <a:solidFill>
              <a:srgbClr val="4AA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17697" y="4663441"/>
            <a:ext cx="37567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AACDB"/>
                </a:solidFill>
                <a:latin typeface="Arial"/>
              </a:defRPr>
            </a:pPr>
            <a:r>
              <a:rPr sz="1400"/>
              <a:t>THE QUESTION MOTIVATING THIS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56420"/>
            <a:ext cx="3492549" cy="2476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556420"/>
            <a:ext cx="3492549" cy="2476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556420"/>
            <a:ext cx="3492549" cy="2476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4186" y="5223420"/>
            <a:ext cx="366717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EA5E9"/>
                </a:solidFill>
                <a:latin typeface="Merriweather"/>
              </a:rPr>
              <a:t>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585370"/>
            <a:ext cx="3492549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200" b="0" i="0" u="none" dirty="0">
                <a:solidFill>
                  <a:srgbClr val="334155"/>
                </a:solidFill>
                <a:latin typeface="DM Sans"/>
              </a:rPr>
              <a:t>Original Target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2485" y="5223420"/>
            <a:ext cx="3667177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 dirty="0">
                <a:solidFill>
                  <a:srgbClr val="0EA5E9"/>
                </a:solidFill>
                <a:latin typeface="Merriweather"/>
              </a:rPr>
              <a:t>Model A </a:t>
            </a:r>
            <a:r>
              <a:rPr sz="1650" b="1" i="0" u="none" dirty="0">
                <a:solidFill>
                  <a:srgbClr val="10B981"/>
                </a:solidFill>
                <a:latin typeface="Merriweather"/>
              </a:rPr>
              <a:t>(Dice=0.9</a:t>
            </a:r>
            <a:r>
              <a:rPr lang="en-US" sz="1650" b="1" i="0" u="none" dirty="0">
                <a:solidFill>
                  <a:srgbClr val="10B981"/>
                </a:solidFill>
                <a:latin typeface="Merriweather"/>
              </a:rPr>
              <a:t>94</a:t>
            </a:r>
            <a:r>
              <a:rPr sz="1650" b="1" i="0" u="none" dirty="0">
                <a:solidFill>
                  <a:srgbClr val="10B981"/>
                </a:solidFill>
                <a:latin typeface="Merriweather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0785" y="5223420"/>
            <a:ext cx="3667177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 dirty="0">
                <a:solidFill>
                  <a:srgbClr val="0EA5E9"/>
                </a:solidFill>
                <a:latin typeface="Merriweather"/>
              </a:rPr>
              <a:t>Model B </a:t>
            </a:r>
            <a:r>
              <a:rPr sz="1650" b="1" i="0" u="none" dirty="0">
                <a:solidFill>
                  <a:srgbClr val="10B981"/>
                </a:solidFill>
                <a:latin typeface="Merriweather"/>
              </a:rPr>
              <a:t>(Dice=0.9</a:t>
            </a:r>
            <a:r>
              <a:rPr lang="en-US" sz="1650" b="1" i="0" u="none" dirty="0">
                <a:solidFill>
                  <a:srgbClr val="10B981"/>
                </a:solidFill>
                <a:latin typeface="Merriweather"/>
              </a:rPr>
              <a:t>85</a:t>
            </a:r>
            <a:r>
              <a:rPr sz="1650" b="1" i="0" u="none" dirty="0">
                <a:solidFill>
                  <a:srgbClr val="10B981"/>
                </a:solidFill>
                <a:latin typeface="Merriweather"/>
              </a:rPr>
              <a:t>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" y="2575470"/>
            <a:ext cx="3454449" cy="2438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8849" y="2575470"/>
            <a:ext cx="3454449" cy="2438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149" y="2575470"/>
            <a:ext cx="3454449" cy="2438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5275" y="571500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50" b="1" i="0" u="none" dirty="0">
                <a:solidFill>
                  <a:srgbClr val="0F172A"/>
                </a:solidFill>
                <a:latin typeface="Merriweather"/>
              </a:rPr>
              <a:t>Are High Dice Scores Enough?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400175"/>
            <a:ext cx="76200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1" u="none">
                <a:solidFill>
                  <a:srgbClr val="64748B"/>
                </a:solidFill>
                <a:latin typeface="Merriweather"/>
              </a:rPr>
              <a:t>Can identical reconstruction imply identical learned representations?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EA58B6-7134-D075-606D-CA92D1DCD0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450" y="2556420"/>
            <a:ext cx="3511598" cy="2476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1AE1CA4-3EE9-40C1-3C11-5139CD1A06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0749" y="2556420"/>
            <a:ext cx="3530649" cy="253573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0E54F1E-DB9A-1B54-42D5-DCCEA7A476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7953" y="2556420"/>
            <a:ext cx="3511597" cy="24872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33585"/>
            <a:ext cx="5238750" cy="3676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571625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40829" y="6094645"/>
            <a:ext cx="6632121" cy="295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dirty="0">
                <a:solidFill>
                  <a:schemeClr val="bg1"/>
                </a:solidFill>
              </a:rPr>
              <a:t>Equivalent Reconstructions Can Hide Different Representations.</a:t>
            </a:r>
            <a:endParaRPr b="0" i="1" u="none" dirty="0">
              <a:solidFill>
                <a:schemeClr val="bg1"/>
              </a:solidFill>
              <a:latin typeface="DM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47774" y="2347911"/>
            <a:ext cx="459785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dirty="0">
                <a:solidFill>
                  <a:schemeClr val="bg1"/>
                </a:solidFill>
              </a:rPr>
              <a:t>Equivalent reconstruction performance</a:t>
            </a:r>
            <a:endParaRPr sz="2000" b="0" i="0" u="none" dirty="0">
              <a:solidFill>
                <a:schemeClr val="bg1"/>
              </a:solidFill>
              <a:latin typeface="DM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47775" y="2908526"/>
            <a:ext cx="417195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dirty="0">
                <a:solidFill>
                  <a:schemeClr val="bg1"/>
                </a:solidFill>
              </a:rPr>
              <a:t>Different learned representations</a:t>
            </a:r>
            <a:endParaRPr sz="2000" b="0" i="0" u="none" dirty="0">
              <a:solidFill>
                <a:schemeClr val="bg1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47775" y="3414711"/>
            <a:ext cx="417195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dirty="0">
                <a:solidFill>
                  <a:schemeClr val="bg1"/>
                </a:solidFill>
              </a:rPr>
              <a:t>Different representational fidelity</a:t>
            </a:r>
            <a:endParaRPr sz="2000" b="0" i="0" u="none" dirty="0">
              <a:solidFill>
                <a:schemeClr val="bg1"/>
              </a:solidFill>
              <a:latin typeface="DM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47775" y="3942666"/>
            <a:ext cx="4635954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dirty="0">
                <a:solidFill>
                  <a:schemeClr val="bg1"/>
                </a:solidFill>
              </a:rPr>
              <a:t>Conventional reconstruction metrics cannot detect these differences</a:t>
            </a:r>
            <a:endParaRPr sz="2000" b="0" i="0" u="none" dirty="0">
              <a:solidFill>
                <a:schemeClr val="bg1"/>
              </a:solidFill>
              <a:latin typeface="DM Sa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011" y="1371599"/>
            <a:ext cx="5238750" cy="44148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0253" y="2326137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8BDF8"/>
                </a:solidFill>
                <a:latin typeface="DM San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1139" y="2875866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8BDF8"/>
                </a:solidFill>
                <a:latin typeface="DM San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1139" y="3382044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8BDF8"/>
                </a:solidFill>
                <a:latin typeface="DM San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1139" y="3931780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8BDF8"/>
                </a:solidFill>
                <a:latin typeface="DM San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334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0F9FF"/>
                </a:solidFill>
                <a:latin typeface="Merriweather"/>
              </a:rPr>
              <a:t>Why Reconstruction Can Be Misleading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87FA7D9-2968-5672-BA38-28E0668C8B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272" y="3180858"/>
            <a:ext cx="2321831" cy="26642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9524A42-4B31-97B5-3AA9-EEA2CF7424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6370" y="1376126"/>
            <a:ext cx="1635581" cy="180143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F80C839-2327-14BF-E15A-A96C75744A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8028" y="1372277"/>
            <a:ext cx="1778907" cy="180143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8DD4F4B-06F4-C972-BE42-E96172868A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991" y="3192754"/>
            <a:ext cx="2942770" cy="265238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12F3B2A-4F4E-0AAD-0901-F5EAB5732E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7872" y="1368878"/>
            <a:ext cx="1822447" cy="180799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8BEDB6B-A292-817F-5F64-E91199001586}"/>
              </a:ext>
            </a:extLst>
          </p:cNvPr>
          <p:cNvSpPr txBox="1"/>
          <p:nvPr/>
        </p:nvSpPr>
        <p:spPr>
          <a:xfrm>
            <a:off x="1186547" y="4681250"/>
            <a:ext cx="47325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Representation-aware evaluation is needed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E92713-B9E6-7A22-42CD-60D39C576B45}"/>
              </a:ext>
            </a:extLst>
          </p:cNvPr>
          <p:cNvSpPr txBox="1"/>
          <p:nvPr/>
        </p:nvSpPr>
        <p:spPr>
          <a:xfrm>
            <a:off x="864051" y="4672691"/>
            <a:ext cx="409576" cy="386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1" i="0" u="none" dirty="0">
                <a:solidFill>
                  <a:srgbClr val="38BDF8"/>
                </a:solidFill>
                <a:latin typeface="DM Sans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178499" y="1139163"/>
            <a:ext cx="7486650" cy="12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3600" b="0" i="0" u="none" dirty="0">
                <a:solidFill>
                  <a:srgbClr val="0EA5E9"/>
                </a:solidFill>
                <a:latin typeface="Merriweather"/>
              </a:rPr>
              <a:t>Equivalent Reconstruction ≠ Equivalent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771" y="3039579"/>
            <a:ext cx="10853058" cy="4039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 dirty="0">
                <a:solidFill>
                  <a:srgbClr val="F8FAFC"/>
                </a:solidFill>
                <a:latin typeface="DM Sans"/>
              </a:rPr>
              <a:t>Equivalent reconstruction</a:t>
            </a:r>
            <a:r>
              <a:rPr lang="en-US" sz="2100" b="0" i="0" u="none" dirty="0">
                <a:solidFill>
                  <a:srgbClr val="F8FAFC"/>
                </a:solidFill>
                <a:latin typeface="DM Sans"/>
              </a:rPr>
              <a:t>s</a:t>
            </a:r>
            <a:r>
              <a:rPr sz="2100" b="0" i="0" u="none" dirty="0">
                <a:solidFill>
                  <a:srgbClr val="F8FAFC"/>
                </a:solidFill>
                <a:latin typeface="DM Sans"/>
              </a:rPr>
              <a:t> can hide substantial differen</a:t>
            </a:r>
            <a:r>
              <a:rPr lang="en-US" sz="2100" b="0" i="0" u="none" dirty="0">
                <a:solidFill>
                  <a:srgbClr val="F8FAFC"/>
                </a:solidFill>
                <a:latin typeface="DM Sans"/>
              </a:rPr>
              <a:t>ces in</a:t>
            </a:r>
            <a:r>
              <a:rPr sz="2100" b="0" i="0" u="none" dirty="0">
                <a:solidFill>
                  <a:srgbClr val="F8FAFC"/>
                </a:solidFill>
                <a:latin typeface="DM Sans"/>
              </a:rPr>
              <a:t> representational fidelity. </a:t>
            </a:r>
            <a:endParaRPr sz="2100" b="0" i="0" u="none" dirty="0">
              <a:solidFill>
                <a:schemeClr val="bg1"/>
              </a:solidFill>
              <a:latin typeface="DM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90675" y="1879401"/>
            <a:ext cx="333375" cy="148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0" i="0" u="none">
                <a:solidFill>
                  <a:srgbClr val="334155"/>
                </a:solidFill>
                <a:latin typeface="DM Sans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67950" y="2873573"/>
            <a:ext cx="333375" cy="148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0" i="0" u="none">
                <a:solidFill>
                  <a:srgbClr val="334155"/>
                </a:solidFill>
                <a:latin typeface="DM Sans"/>
              </a:rPr>
              <a:t>"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3F4C7E1-B72F-D437-F1DF-32532455DC6C}"/>
              </a:ext>
            </a:extLst>
          </p:cNvPr>
          <p:cNvSpPr/>
          <p:nvPr/>
        </p:nvSpPr>
        <p:spPr>
          <a:xfrm>
            <a:off x="807131" y="4550229"/>
            <a:ext cx="10666412" cy="1371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i="0" u="none" dirty="0">
                <a:solidFill>
                  <a:srgbClr val="38BDF8"/>
                </a:solidFill>
                <a:latin typeface="DM Sans"/>
              </a:rPr>
              <a:t>Representational fidelity:</a:t>
            </a:r>
            <a:r>
              <a:rPr lang="en-US" sz="1800" b="0" i="0" u="none" dirty="0">
                <a:solidFill>
                  <a:srgbClr val="F8FAFC"/>
                </a:solidFill>
                <a:latin typeface="DM Sans"/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The extent to which anatomically meaningful information is preserved within the learned representation.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13456" y="224242"/>
            <a:ext cx="43891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rgbClr val="163A5F"/>
                </a:solidFill>
                <a:latin typeface="Inter"/>
              </a:rPr>
              <a:t>Research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8014" y="2231570"/>
            <a:ext cx="3200400" cy="27432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5988" y="2682239"/>
            <a:ext cx="285046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63A5F"/>
                </a:solidFill>
                <a:latin typeface="Inter"/>
              </a:rPr>
              <a:t>Characterization</a:t>
            </a:r>
            <a:endParaRPr sz="2800" b="1" dirty="0">
              <a:solidFill>
                <a:srgbClr val="163A5F"/>
              </a:solidFill>
              <a:latin typeface="Inter"/>
            </a:endParaRPr>
          </a:p>
          <a:p>
            <a:br>
              <a:rPr dirty="0"/>
            </a:br>
            <a:r>
              <a:rPr lang="en-US" sz="2000" dirty="0"/>
              <a:t>How do learned representations differ despite equivalent reconstruction?</a:t>
            </a:r>
            <a:endParaRPr sz="2000" dirty="0">
              <a:solidFill>
                <a:srgbClr val="505050"/>
              </a:solidFill>
              <a:latin typeface="Inter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27718" y="2231570"/>
            <a:ext cx="3200400" cy="2808516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5028" y="2704012"/>
            <a:ext cx="280257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63A5F"/>
                </a:solidFill>
                <a:latin typeface="Inter"/>
              </a:rPr>
              <a:t>Quantification</a:t>
            </a:r>
          </a:p>
          <a:p>
            <a:br>
              <a:rPr dirty="0"/>
            </a:br>
            <a:r>
              <a:rPr lang="en-US" sz="2000" dirty="0"/>
              <a:t>Can a composite Representational Fidelity Index (RFI) quantify these differences?</a:t>
            </a:r>
            <a:endParaRPr sz="2000" dirty="0">
              <a:solidFill>
                <a:srgbClr val="505050"/>
              </a:solidFill>
              <a:latin typeface="Inter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8308" y="2220684"/>
            <a:ext cx="3200400" cy="2808516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31188" y="2769326"/>
            <a:ext cx="28619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63A5F"/>
                </a:solidFill>
                <a:latin typeface="Inter"/>
              </a:rPr>
              <a:t>Generalization</a:t>
            </a:r>
          </a:p>
          <a:p>
            <a:br>
              <a:rPr dirty="0"/>
            </a:br>
            <a:r>
              <a:rPr lang="en-US" sz="2000" dirty="0"/>
              <a:t>Do these findings generalize across datasets and model architectures?</a:t>
            </a:r>
            <a:endParaRPr sz="2000" dirty="0">
              <a:solidFill>
                <a:srgbClr val="505050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6130" y="241663"/>
            <a:ext cx="716895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2A41"/>
                </a:solidFill>
                <a:latin typeface="Georgia"/>
              </a:defRPr>
            </a:pPr>
            <a:r>
              <a:rPr sz="3200" dirty="0"/>
              <a:t>Proposed Evaluation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34092" y="1097280"/>
            <a:ext cx="4114800" cy="548640"/>
          </a:xfrm>
          <a:prstGeom prst="roundRect">
            <a:avLst/>
          </a:prstGeom>
          <a:solidFill>
            <a:srgbClr val="35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/>
              <a:t>Continuous Neural Representation (CNR)</a:t>
            </a:r>
            <a:br>
              <a:rPr sz="1400"/>
            </a:br>
            <a:r>
              <a:rPr sz="1400"/>
              <a:t>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34092" y="2103120"/>
            <a:ext cx="4114800" cy="548640"/>
          </a:xfrm>
          <a:prstGeom prst="roundRect">
            <a:avLst/>
          </a:prstGeom>
          <a:solidFill>
            <a:srgbClr val="35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/>
              <a:t>Learned Continuous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30388" y="3474720"/>
            <a:ext cx="384048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58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62A41"/>
                </a:solidFill>
                <a:latin typeface="Arial"/>
              </a:defRPr>
            </a:pPr>
            <a:r>
              <a:rPr sz="1600" dirty="0">
                <a:solidFill>
                  <a:schemeClr val="tx1"/>
                </a:solidFill>
              </a:rPr>
              <a:t>Reconstruction Evaluation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                     </a:t>
            </a:r>
            <a:r>
              <a:rPr dirty="0">
                <a:solidFill>
                  <a:schemeClr val="tx1"/>
                </a:solidFill>
              </a:rPr>
              <a:t>Dice </a:t>
            </a:r>
            <a:r>
              <a:rPr lang="en-US" dirty="0">
                <a:solidFill>
                  <a:schemeClr val="tx1"/>
                </a:solidFill>
              </a:rPr>
              <a:t>•</a:t>
            </a:r>
            <a:r>
              <a:rPr dirty="0">
                <a:solidFill>
                  <a:schemeClr val="tx1"/>
                </a:solidFill>
              </a:rPr>
              <a:t> HD95 • ASD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21260" y="3474720"/>
            <a:ext cx="384048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62A41"/>
                </a:solidFill>
                <a:latin typeface="Arial"/>
              </a:defRPr>
            </a:pPr>
            <a:r>
              <a:rPr sz="1600" dirty="0">
                <a:solidFill>
                  <a:schemeClr val="tx1"/>
                </a:solidFill>
              </a:rPr>
              <a:t>Representational Fidelity Evaluation</a:t>
            </a:r>
          </a:p>
          <a:p>
            <a:r>
              <a:rPr lang="en-US" dirty="0">
                <a:solidFill>
                  <a:schemeClr val="tx1"/>
                </a:solidFill>
              </a:rPr>
              <a:t>           </a:t>
            </a:r>
            <a:r>
              <a:rPr dirty="0">
                <a:solidFill>
                  <a:schemeClr val="tx1"/>
                </a:solidFill>
              </a:rPr>
              <a:t>Geometry • Latent • RFI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34092" y="5029200"/>
            <a:ext cx="4114800" cy="548640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/>
              <a:t>Statistical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34092" y="6035040"/>
            <a:ext cx="4114800" cy="548640"/>
          </a:xfrm>
          <a:prstGeom prst="round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/>
              <a:t>Hypothesis Evaluation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1492" y="1645920"/>
            <a:ext cx="0" cy="457200"/>
          </a:xfrm>
          <a:prstGeom prst="line">
            <a:avLst/>
          </a:prstGeom>
          <a:ln w="25400">
            <a:solidFill>
              <a:srgbClr val="358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1492" y="2651760"/>
            <a:ext cx="0" cy="411480"/>
          </a:xfrm>
          <a:prstGeom prst="line">
            <a:avLst/>
          </a:prstGeom>
          <a:ln w="25400">
            <a:solidFill>
              <a:srgbClr val="358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750628" y="3063240"/>
            <a:ext cx="4690873" cy="0"/>
          </a:xfrm>
          <a:prstGeom prst="line">
            <a:avLst/>
          </a:prstGeom>
          <a:ln w="25400">
            <a:solidFill>
              <a:srgbClr val="358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50627" y="3063240"/>
            <a:ext cx="0" cy="411480"/>
          </a:xfrm>
          <a:prstGeom prst="line">
            <a:avLst/>
          </a:prstGeom>
          <a:ln w="25400">
            <a:solidFill>
              <a:srgbClr val="358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441500" y="3063240"/>
            <a:ext cx="0" cy="411480"/>
          </a:xfrm>
          <a:prstGeom prst="line">
            <a:avLst/>
          </a:prstGeom>
          <a:ln w="25400">
            <a:solidFill>
              <a:srgbClr val="358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750627" y="4297680"/>
            <a:ext cx="0" cy="411480"/>
          </a:xfrm>
          <a:prstGeom prst="line">
            <a:avLst/>
          </a:prstGeom>
          <a:ln w="25400">
            <a:solidFill>
              <a:srgbClr val="358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441500" y="4297680"/>
            <a:ext cx="0" cy="411480"/>
          </a:xfrm>
          <a:prstGeom prst="line">
            <a:avLst/>
          </a:prstGeom>
          <a:ln w="25400">
            <a:solidFill>
              <a:srgbClr val="358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50628" y="4709160"/>
            <a:ext cx="4690873" cy="0"/>
          </a:xfrm>
          <a:prstGeom prst="line">
            <a:avLst/>
          </a:prstGeom>
          <a:ln w="25400">
            <a:solidFill>
              <a:srgbClr val="358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1492" y="4709160"/>
            <a:ext cx="0" cy="320040"/>
          </a:xfrm>
          <a:prstGeom prst="line">
            <a:avLst/>
          </a:prstGeom>
          <a:ln w="25400">
            <a:solidFill>
              <a:srgbClr val="358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91492" y="5577840"/>
            <a:ext cx="0" cy="457200"/>
          </a:xfrm>
          <a:prstGeom prst="line">
            <a:avLst/>
          </a:prstGeom>
          <a:ln w="25400">
            <a:solidFill>
              <a:srgbClr val="358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83324" y="27475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RFI Computed?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17004" y="904818"/>
            <a:ext cx="108404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600" i="1">
                <a:solidFill>
                  <a:srgbClr val="358CAF"/>
                </a:solidFill>
                <a:latin typeface="Arial"/>
              </a:defRPr>
            </a:pPr>
            <a:r>
              <a:rPr lang="en-US" sz="1600" dirty="0"/>
              <a:t>Representational Fidelity Index (RFI) integrates geometric fidelity and latent representation quality into one score.</a:t>
            </a:r>
          </a:p>
        </p:txBody>
      </p:sp>
      <p:sp>
        <p:nvSpPr>
          <p:cNvPr id="7" name="Shape 5"/>
          <p:cNvSpPr/>
          <p:nvPr/>
        </p:nvSpPr>
        <p:spPr>
          <a:xfrm>
            <a:off x="822960" y="1545767"/>
            <a:ext cx="4709160" cy="566928"/>
          </a:xfrm>
          <a:prstGeom prst="roundRect">
            <a:avLst>
              <a:gd name="adj" fmla="val 14516"/>
            </a:avLst>
          </a:prstGeom>
          <a:solidFill>
            <a:srgbClr val="2E86AB"/>
          </a:solidFill>
          <a:ln/>
          <a:effectLst>
            <a:outerShdw blurRad="76200" dist="25400" dir="5400000" algn="bl" rotWithShape="0">
              <a:srgbClr val="0B1626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545774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lang="en-US" sz="1600" dirty="0"/>
              <a:t>Geometry Index (</a:t>
            </a:r>
            <a:r>
              <a:rPr lang="en-US" sz="1600" dirty="0" err="1"/>
              <a:t>GeoIndex</a:t>
            </a:r>
            <a:r>
              <a:rPr lang="en-US" sz="1600" dirty="0"/>
              <a:t>)</a:t>
            </a:r>
          </a:p>
        </p:txBody>
      </p:sp>
      <p:sp>
        <p:nvSpPr>
          <p:cNvPr id="9" name="Shape 7"/>
          <p:cNvSpPr/>
          <p:nvPr/>
        </p:nvSpPr>
        <p:spPr>
          <a:xfrm>
            <a:off x="822960" y="2222422"/>
            <a:ext cx="4709160" cy="1270148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0B1626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7684" y="2430996"/>
            <a:ext cx="3614057" cy="925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400">
                <a:solidFill>
                  <a:srgbClr val="3C3C3C"/>
                </a:solidFill>
                <a:latin typeface="Arial"/>
              </a:defRPr>
            </a:pPr>
            <a:r>
              <a:rPr lang="en-US" sz="1600" dirty="0"/>
              <a:t>• Gradient Error</a:t>
            </a:r>
          </a:p>
          <a:p>
            <a:pPr>
              <a:defRPr sz="1400">
                <a:solidFill>
                  <a:srgbClr val="3C3C3C"/>
                </a:solidFill>
                <a:latin typeface="Arial"/>
              </a:defRPr>
            </a:pPr>
            <a:r>
              <a:rPr lang="en-US" sz="1600" dirty="0"/>
              <a:t>• Curvature Error</a:t>
            </a:r>
          </a:p>
          <a:p>
            <a:pPr>
              <a:defRPr sz="1400">
                <a:solidFill>
                  <a:srgbClr val="3C3C3C"/>
                </a:solidFill>
                <a:latin typeface="Arial"/>
              </a:defRPr>
            </a:pPr>
            <a:r>
              <a:rPr lang="en-US" sz="1600" dirty="0"/>
              <a:t>• Topology Error (Euler Characteristic)</a:t>
            </a:r>
          </a:p>
        </p:txBody>
      </p:sp>
      <p:sp>
        <p:nvSpPr>
          <p:cNvPr id="13" name="Text 11"/>
          <p:cNvSpPr/>
          <p:nvPr/>
        </p:nvSpPr>
        <p:spPr>
          <a:xfrm>
            <a:off x="822960" y="414223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56832" y="1567540"/>
            <a:ext cx="4709160" cy="566928"/>
          </a:xfrm>
          <a:prstGeom prst="roundRect">
            <a:avLst>
              <a:gd name="adj" fmla="val 14516"/>
            </a:avLst>
          </a:prstGeom>
          <a:solidFill>
            <a:srgbClr val="E8743B"/>
          </a:solidFill>
          <a:ln/>
          <a:effectLst>
            <a:outerShdw blurRad="76200" dist="25400" dir="5400000" algn="bl" rotWithShape="0">
              <a:srgbClr val="0B1626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56832" y="1567539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lang="en-US" sz="1600" dirty="0"/>
              <a:t>Latent Index (</a:t>
            </a:r>
            <a:r>
              <a:rPr lang="en-US" sz="1600" dirty="0" err="1"/>
              <a:t>LatentIndex</a:t>
            </a:r>
            <a:r>
              <a:rPr lang="en-US" sz="1600" dirty="0"/>
              <a:t>)</a:t>
            </a:r>
          </a:p>
        </p:txBody>
      </p:sp>
      <p:sp>
        <p:nvSpPr>
          <p:cNvPr id="16" name="Shape 14"/>
          <p:cNvSpPr/>
          <p:nvPr/>
        </p:nvSpPr>
        <p:spPr>
          <a:xfrm>
            <a:off x="6656832" y="2225907"/>
            <a:ext cx="4709160" cy="1266663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0B1626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76872" y="2430996"/>
            <a:ext cx="2744071" cy="842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400">
                <a:solidFill>
                  <a:srgbClr val="3C3C3C"/>
                </a:solidFill>
                <a:latin typeface="Arial"/>
              </a:defRPr>
            </a:pPr>
            <a:r>
              <a:rPr lang="en-US" sz="1600" dirty="0"/>
              <a:t>• Effective Rank</a:t>
            </a:r>
          </a:p>
          <a:p>
            <a:pPr>
              <a:defRPr sz="1400">
                <a:solidFill>
                  <a:srgbClr val="3C3C3C"/>
                </a:solidFill>
                <a:latin typeface="Arial"/>
              </a:defRPr>
            </a:pPr>
            <a:r>
              <a:rPr lang="en-US" sz="1600" dirty="0"/>
              <a:t>• Spectral Entropy</a:t>
            </a:r>
          </a:p>
          <a:p>
            <a:pPr>
              <a:defRPr sz="1400">
                <a:solidFill>
                  <a:srgbClr val="3C3C3C"/>
                </a:solidFill>
                <a:latin typeface="Arial"/>
              </a:defRPr>
            </a:pPr>
            <a:r>
              <a:rPr lang="en-US" sz="1600" dirty="0"/>
              <a:t>• Participation Ratio</a:t>
            </a:r>
          </a:p>
        </p:txBody>
      </p:sp>
      <p:sp>
        <p:nvSpPr>
          <p:cNvPr id="20" name="Text 18"/>
          <p:cNvSpPr/>
          <p:nvPr/>
        </p:nvSpPr>
        <p:spPr>
          <a:xfrm>
            <a:off x="6656832" y="414223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143794" y="5074920"/>
            <a:ext cx="6336792" cy="685800"/>
          </a:xfrm>
          <a:prstGeom prst="roundRect">
            <a:avLst>
              <a:gd name="adj" fmla="val 12000"/>
            </a:avLst>
          </a:prstGeom>
          <a:solidFill>
            <a:srgbClr val="1B3358"/>
          </a:solidFill>
          <a:ln w="12700">
            <a:solidFill>
              <a:srgbClr val="2E4A78"/>
            </a:solidFill>
            <a:prstDash val="solid"/>
          </a:ln>
          <a:effectLst>
            <a:outerShdw blurRad="76200" dist="25400" dir="5400000" algn="bl" rotWithShape="0">
              <a:srgbClr val="0B1626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26080" y="5074920"/>
            <a:ext cx="6336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RFI  =  (GeoIndex + LatentIndex) / 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1520" y="6063345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 sz="1400" i="1">
                <a:solidFill>
                  <a:srgbClr val="3C3C3C"/>
                </a:solidFill>
                <a:latin typeface="Arial"/>
              </a:defRPr>
            </a:pPr>
            <a:r>
              <a:rPr lang="en-US" sz="1600" dirty="0"/>
              <a:t>CKA reported separately to validate latent-space divergence.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1DDFFB6-665D-8AF8-B758-7492486322B7}"/>
              </a:ext>
            </a:extLst>
          </p:cNvPr>
          <p:cNvSpPr/>
          <p:nvPr/>
        </p:nvSpPr>
        <p:spPr>
          <a:xfrm>
            <a:off x="4469521" y="4204061"/>
            <a:ext cx="3657600" cy="548640"/>
          </a:xfrm>
          <a:prstGeom prst="roundRect">
            <a:avLst/>
          </a:prstGeom>
          <a:solidFill>
            <a:srgbClr val="162A41"/>
          </a:solidFill>
          <a:ln w="25400">
            <a:solidFill>
              <a:srgbClr val="16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dirty="0"/>
              <a:t>Standardize All Metrics (Z</a:t>
            </a:r>
            <a:r>
              <a:rPr lang="en-US" sz="1400" dirty="0"/>
              <a:t>-</a:t>
            </a:r>
            <a:r>
              <a:rPr sz="1400" dirty="0"/>
              <a:t>score)</a:t>
            </a:r>
          </a:p>
        </p:txBody>
      </p:sp>
      <p:cxnSp>
        <p:nvCxnSpPr>
          <p:cNvPr id="29" name="Connector 17">
            <a:extLst>
              <a:ext uri="{FF2B5EF4-FFF2-40B4-BE49-F238E27FC236}">
                <a16:creationId xmlns:a16="http://schemas.microsoft.com/office/drawing/2014/main" id="{210F4457-8AF2-DD90-1183-B23945D62A77}"/>
              </a:ext>
            </a:extLst>
          </p:cNvPr>
          <p:cNvCxnSpPr/>
          <p:nvPr/>
        </p:nvCxnSpPr>
        <p:spPr>
          <a:xfrm>
            <a:off x="6287435" y="3942805"/>
            <a:ext cx="0" cy="228600"/>
          </a:xfrm>
          <a:prstGeom prst="line">
            <a:avLst/>
          </a:prstGeom>
          <a:ln w="25400">
            <a:solidFill>
              <a:srgbClr val="358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16">
            <a:extLst>
              <a:ext uri="{FF2B5EF4-FFF2-40B4-BE49-F238E27FC236}">
                <a16:creationId xmlns:a16="http://schemas.microsoft.com/office/drawing/2014/main" id="{8E27983B-3C22-2C49-4EBD-C3D53C788B5B}"/>
              </a:ext>
            </a:extLst>
          </p:cNvPr>
          <p:cNvCxnSpPr>
            <a:cxnSpLocks/>
          </p:cNvCxnSpPr>
          <p:nvPr/>
        </p:nvCxnSpPr>
        <p:spPr>
          <a:xfrm>
            <a:off x="3166654" y="3924514"/>
            <a:ext cx="5838728" cy="15463"/>
          </a:xfrm>
          <a:prstGeom prst="line">
            <a:avLst/>
          </a:prstGeom>
          <a:ln w="25400">
            <a:solidFill>
              <a:srgbClr val="358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14">
            <a:extLst>
              <a:ext uri="{FF2B5EF4-FFF2-40B4-BE49-F238E27FC236}">
                <a16:creationId xmlns:a16="http://schemas.microsoft.com/office/drawing/2014/main" id="{6F0E39FB-C9B4-9BCD-CFF9-1CA28F5C34DF}"/>
              </a:ext>
            </a:extLst>
          </p:cNvPr>
          <p:cNvCxnSpPr>
            <a:cxnSpLocks/>
          </p:cNvCxnSpPr>
          <p:nvPr/>
        </p:nvCxnSpPr>
        <p:spPr>
          <a:xfrm>
            <a:off x="3165023" y="3503022"/>
            <a:ext cx="0" cy="428898"/>
          </a:xfrm>
          <a:prstGeom prst="line">
            <a:avLst/>
          </a:prstGeom>
          <a:ln w="25400">
            <a:solidFill>
              <a:srgbClr val="358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15">
            <a:extLst>
              <a:ext uri="{FF2B5EF4-FFF2-40B4-BE49-F238E27FC236}">
                <a16:creationId xmlns:a16="http://schemas.microsoft.com/office/drawing/2014/main" id="{2B0729BB-6B38-7867-DCE7-0ACE27D77848}"/>
              </a:ext>
            </a:extLst>
          </p:cNvPr>
          <p:cNvCxnSpPr>
            <a:cxnSpLocks/>
          </p:cNvCxnSpPr>
          <p:nvPr/>
        </p:nvCxnSpPr>
        <p:spPr>
          <a:xfrm>
            <a:off x="9005382" y="3485605"/>
            <a:ext cx="0" cy="454372"/>
          </a:xfrm>
          <a:prstGeom prst="line">
            <a:avLst/>
          </a:prstGeom>
          <a:ln w="25400">
            <a:solidFill>
              <a:srgbClr val="358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18">
            <a:extLst>
              <a:ext uri="{FF2B5EF4-FFF2-40B4-BE49-F238E27FC236}">
                <a16:creationId xmlns:a16="http://schemas.microsoft.com/office/drawing/2014/main" id="{9D98C184-4A08-66F0-02A7-395FD14C2A1F}"/>
              </a:ext>
            </a:extLst>
          </p:cNvPr>
          <p:cNvCxnSpPr/>
          <p:nvPr/>
        </p:nvCxnSpPr>
        <p:spPr>
          <a:xfrm>
            <a:off x="6298320" y="4730930"/>
            <a:ext cx="0" cy="365760"/>
          </a:xfrm>
          <a:prstGeom prst="line">
            <a:avLst/>
          </a:prstGeom>
          <a:ln w="25400">
            <a:solidFill>
              <a:srgbClr val="358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46957"/>
            <a:ext cx="5238750" cy="33432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46957"/>
            <a:ext cx="5238750" cy="3343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969" y="5658320"/>
            <a:ext cx="11884476" cy="65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000" dirty="0">
                <a:solidFill>
                  <a:srgbClr val="00B0F0"/>
                </a:solidFill>
              </a:rPr>
              <a:t>Both datasets produced statistically equivalent reconstruction while revealing substantial representational differences.</a:t>
            </a:r>
            <a:endParaRPr sz="2000" b="1" i="0" u="none" dirty="0">
              <a:solidFill>
                <a:srgbClr val="00B0F0"/>
              </a:solidFill>
              <a:latin typeface="DM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2025" y="2285107"/>
            <a:ext cx="2000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F8FAFC"/>
                </a:solidFill>
                <a:latin typeface="Merriweather"/>
              </a:rPr>
              <a:t>DRIVE Dataset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2332732"/>
            <a:ext cx="1190625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47775" y="2818507"/>
            <a:ext cx="4171950" cy="28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DM Sans"/>
              </a:rPr>
              <a:t>20</a:t>
            </a:r>
            <a:r>
              <a:rPr lang="en-US" sz="1500" b="0" i="0" u="none" dirty="0">
                <a:solidFill>
                  <a:srgbClr val="CBD5E1"/>
                </a:solidFill>
                <a:latin typeface="DM Sans"/>
              </a:rPr>
              <a:t> retinal</a:t>
            </a:r>
            <a:r>
              <a:rPr sz="1500" b="0" i="0" u="none" dirty="0">
                <a:solidFill>
                  <a:srgbClr val="CBD5E1"/>
                </a:solidFill>
                <a:latin typeface="DM Sans"/>
              </a:rPr>
              <a:t>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7775" y="3313807"/>
            <a:ext cx="4171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DM Sans"/>
              </a:rPr>
              <a:t>3 random seeds per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7775" y="3809107"/>
            <a:ext cx="4171950" cy="28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dirty="0">
                <a:solidFill>
                  <a:schemeClr val="bg1"/>
                </a:solidFill>
              </a:rPr>
              <a:t>Matched reconstruction pair identified</a:t>
            </a:r>
            <a:endParaRPr sz="1500" b="0" i="0" u="none" dirty="0">
              <a:solidFill>
                <a:schemeClr val="bg1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47775" y="4304407"/>
            <a:ext cx="4171950" cy="28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dirty="0">
                <a:solidFill>
                  <a:schemeClr val="bg1"/>
                </a:solidFill>
              </a:rPr>
              <a:t>Wilcoxon + Holm</a:t>
            </a:r>
            <a:endParaRPr sz="1500" b="0" i="0" u="none" dirty="0">
              <a:solidFill>
                <a:schemeClr val="bg1"/>
              </a:solidFill>
              <a:latin typeface="DM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72275" y="2285107"/>
            <a:ext cx="187023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Merriweather"/>
              </a:rPr>
              <a:t>GLAS Dataset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7425" y="2332732"/>
            <a:ext cx="135255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58025" y="2818507"/>
            <a:ext cx="4171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DM Sans"/>
              </a:rPr>
              <a:t>20 histological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025" y="3313807"/>
            <a:ext cx="4171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DM Sans"/>
              </a:rPr>
              <a:t>2 random seeds per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8025" y="3809107"/>
            <a:ext cx="4171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DM Sans"/>
              </a:rPr>
              <a:t>Statistical Test:</a:t>
            </a:r>
            <a:r>
              <a:rPr sz="1500" b="0" i="0" u="none">
                <a:solidFill>
                  <a:srgbClr val="CBD5E1"/>
                </a:solidFill>
                <a:latin typeface="DM Sans"/>
              </a:rPr>
              <a:t> TOST equivalence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8025" y="4304407"/>
            <a:ext cx="4171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DM Sans"/>
              </a:rPr>
              <a:t>Equivalence bound ±0.02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2818507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DM San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3313807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DM San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3809107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DM San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4304407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DM San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2275" y="2818507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DM San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2275" y="3313807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DM San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2275" y="3809107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DM San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2275" y="4304407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DM San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728" y="571500"/>
            <a:ext cx="116014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</a:rPr>
              <a:t> Experimental Validation</a:t>
            </a:r>
            <a:endParaRPr sz="3150" b="1" i="0" u="none" dirty="0">
              <a:solidFill>
                <a:schemeClr val="bg1"/>
              </a:solidFill>
              <a:latin typeface="Merriweather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8788" y="274321"/>
            <a:ext cx="886973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200" b="1" i="0" u="none" dirty="0">
                <a:solidFill>
                  <a:srgbClr val="0F172A"/>
                </a:solidFill>
                <a:latin typeface="Merriweather"/>
              </a:rPr>
              <a:t>DRIVE Dataset: Equivalent Reconstruction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98814"/>
              </p:ext>
            </p:extLst>
          </p:nvPr>
        </p:nvGraphicFramePr>
        <p:xfrm>
          <a:off x="6097591" y="1254026"/>
          <a:ext cx="57881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358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/>
                        <a:t>SIREN-128</a:t>
                      </a:r>
                    </a:p>
                  </a:txBody>
                  <a:tcPr>
                    <a:solidFill>
                      <a:srgbClr val="358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SIREN-112</a:t>
                      </a:r>
                    </a:p>
                  </a:txBody>
                  <a:tcPr>
                    <a:solidFill>
                      <a:srgbClr val="358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358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Dice 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0.722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0.719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2E8B57"/>
                          </a:solidFill>
                          <a:latin typeface="Arial"/>
                        </a:defRPr>
                      </a:pPr>
                      <a:r>
                        <a:t>✓ 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HD95 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5.81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5.83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2E8B57"/>
                          </a:solidFill>
                          <a:latin typeface="Arial"/>
                        </a:defRPr>
                      </a:pPr>
                      <a:r>
                        <a:t>✓ 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dirty="0"/>
                        <a:t>ASD 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0.610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0.616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2E8B57"/>
                          </a:solidFill>
                          <a:latin typeface="Arial"/>
                        </a:defRPr>
                      </a:pPr>
                      <a:r>
                        <a:rPr dirty="0"/>
                        <a:t>✓ 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5988" y="5212081"/>
            <a:ext cx="9741126" cy="584776"/>
          </a:xfrm>
          <a:prstGeom prst="roundRect">
            <a:avLst>
              <a:gd name="adj" fmla="val 50000"/>
            </a:avLst>
          </a:prstGeom>
          <a:solidFill>
            <a:srgbClr val="E6F5FA"/>
          </a:solidFill>
          <a:ln w="19050">
            <a:solidFill>
              <a:srgbClr val="358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62A41"/>
                </a:solidFill>
                <a:latin typeface="Arial"/>
              </a:defRPr>
            </a:pPr>
            <a:r>
              <a:rPr lang="en-US" dirty="0"/>
              <a:t>Standard reconstruction metrics indicate that the two models are equivalent.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25644" y="6217921"/>
            <a:ext cx="35458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Arial"/>
              </a:defRPr>
            </a:pPr>
            <a:r>
              <a:rPr sz="1200"/>
              <a:t>10</a:t>
            </a: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3F9358B7-83A9-86C3-4ED7-BBA4E3759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01" y="1071633"/>
            <a:ext cx="4972050" cy="29560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636110-D34F-F426-5CCD-D2D5A4D71274}"/>
              </a:ext>
            </a:extLst>
          </p:cNvPr>
          <p:cNvSpPr txBox="1"/>
          <p:nvPr/>
        </p:nvSpPr>
        <p:spPr>
          <a:xfrm>
            <a:off x="794656" y="1261774"/>
            <a:ext cx="3918858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8800" b="1" i="0" u="none" dirty="0">
                <a:solidFill>
                  <a:srgbClr val="0EA5E9"/>
                </a:solidFill>
                <a:latin typeface="Merriweather"/>
              </a:rPr>
              <a:t>~0.0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19F5BF-4AA0-258A-8E5D-4C7E91F187D5}"/>
              </a:ext>
            </a:extLst>
          </p:cNvPr>
          <p:cNvSpPr txBox="1"/>
          <p:nvPr/>
        </p:nvSpPr>
        <p:spPr>
          <a:xfrm>
            <a:off x="685799" y="2700044"/>
            <a:ext cx="4506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u="none" dirty="0">
                <a:solidFill>
                  <a:srgbClr val="94A3B8"/>
                </a:solidFill>
                <a:latin typeface="DM Sans"/>
              </a:rPr>
              <a:t>P-VALUE DIFF (NS)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02C2B1-05C4-0794-6A92-619D5EEFBA13}"/>
              </a:ext>
            </a:extLst>
          </p:cNvPr>
          <p:cNvSpPr txBox="1"/>
          <p:nvPr/>
        </p:nvSpPr>
        <p:spPr>
          <a:xfrm>
            <a:off x="685799" y="3135471"/>
            <a:ext cx="46482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1" u="none" dirty="0">
                <a:solidFill>
                  <a:srgbClr val="64748B"/>
                </a:solidFill>
                <a:latin typeface="DM Sans"/>
              </a:rPr>
              <a:t> Wilcoxon + Holm: all adjusted p &gt; 0.05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536" y="187233"/>
            <a:ext cx="72699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2A41"/>
                </a:solidFill>
                <a:latin typeface="Georgia"/>
              </a:defRPr>
            </a:pPr>
            <a:r>
              <a:rPr sz="3200" dirty="0"/>
              <a:t>DRIVE: Representational Fidelity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2587" y="1188720"/>
            <a:ext cx="301877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28C28"/>
                </a:solidFill>
                <a:latin typeface="Arial"/>
              </a:defRPr>
            </a:pPr>
            <a:r>
              <a:rPr sz="2000" dirty="0"/>
              <a:t>Representation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762684"/>
              </p:ext>
            </p:extLst>
          </p:nvPr>
        </p:nvGraphicFramePr>
        <p:xfrm>
          <a:off x="458789" y="1645920"/>
          <a:ext cx="5637210" cy="2052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3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3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6227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SIREN-128</a:t>
                      </a:r>
                    </a:p>
                  </a:txBody>
                  <a:tcPr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/>
                        <a:t>SIREN-112</a:t>
                      </a:r>
                    </a:p>
                  </a:txBody>
                  <a:tcPr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F28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13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RFI 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−0.234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−0.145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DC3232"/>
                          </a:solidFill>
                          <a:latin typeface="Arial"/>
                        </a:defRPr>
                      </a:pPr>
                      <a:r>
                        <a:t>p &lt; 0.0001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13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LatentIndex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−0.286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−0.150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DC3232"/>
                          </a:solidFill>
                          <a:latin typeface="Arial"/>
                        </a:defRPr>
                      </a:pPr>
                      <a:r>
                        <a:t>p &lt; 0.0001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13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Effective Rank 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84.84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74.02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DC3232"/>
                          </a:solidFill>
                          <a:latin typeface="Arial"/>
                        </a:defRPr>
                      </a:pPr>
                      <a:r>
                        <a:rPr dirty="0"/>
                        <a:t>Significant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70739" y="1188720"/>
            <a:ext cx="234711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58CAF"/>
                </a:solidFill>
                <a:latin typeface="Arial"/>
              </a:defRPr>
            </a:pPr>
            <a:r>
              <a:rPr sz="2000" dirty="0"/>
              <a:t>Geometry Metrics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492997"/>
              </p:ext>
            </p:extLst>
          </p:nvPr>
        </p:nvGraphicFramePr>
        <p:xfrm>
          <a:off x="6246941" y="1645920"/>
          <a:ext cx="5738230" cy="2632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6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45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7507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358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SIREN-128</a:t>
                      </a:r>
                    </a:p>
                  </a:txBody>
                  <a:tcPr>
                    <a:solidFill>
                      <a:srgbClr val="358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SIREN-112</a:t>
                      </a:r>
                    </a:p>
                  </a:txBody>
                  <a:tcPr>
                    <a:solidFill>
                      <a:srgbClr val="358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358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576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Gradient Error 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30.44°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30.55°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DC3232"/>
                          </a:solidFill>
                          <a:latin typeface="Arial"/>
                        </a:defRPr>
                      </a:pPr>
                      <a:r>
                        <a:t>p = 0.040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576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Curvature Error 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0.955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0.960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DC3232"/>
                          </a:solidFill>
                          <a:latin typeface="Arial"/>
                        </a:defRPr>
                      </a:pPr>
                      <a:r>
                        <a:t>p = 0.033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7507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Vessel Width Error 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2.60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2.67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C86414"/>
                          </a:solidFill>
                          <a:latin typeface="Arial"/>
                        </a:defRPr>
                      </a:pPr>
                      <a:r>
                        <a:rPr dirty="0"/>
                        <a:t>trend (p = 0.097)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33397" y="3932796"/>
            <a:ext cx="500597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</a:pPr>
            <a:r>
              <a:rPr dirty="0">
                <a:solidFill>
                  <a:srgbClr val="3C3C3C"/>
                </a:solidFill>
                <a:latin typeface="Arial"/>
              </a:rPr>
              <a:t>Effective Rank: </a:t>
            </a:r>
            <a:r>
              <a:rPr b="1" dirty="0">
                <a:solidFill>
                  <a:srgbClr val="C86414"/>
                </a:solidFill>
                <a:latin typeface="Arial"/>
              </a:rPr>
              <a:t>84.84 → 74.02 </a:t>
            </a:r>
            <a:r>
              <a:rPr i="1" dirty="0">
                <a:solidFill>
                  <a:srgbClr val="358CAF"/>
                </a:solidFill>
                <a:latin typeface="Arial"/>
              </a:rPr>
              <a:t>(≈13% lower)</a:t>
            </a:r>
          </a:p>
          <a:p>
            <a:pPr algn="ctr">
              <a:spcBef>
                <a:spcPts val="600"/>
              </a:spcBef>
            </a:pPr>
            <a:r>
              <a:rPr dirty="0" err="1">
                <a:solidFill>
                  <a:srgbClr val="3C3C3C"/>
                </a:solidFill>
                <a:latin typeface="Arial"/>
              </a:rPr>
              <a:t>LatentIndex</a:t>
            </a:r>
            <a:r>
              <a:rPr dirty="0">
                <a:solidFill>
                  <a:srgbClr val="3C3C3C"/>
                </a:solidFill>
                <a:latin typeface="Arial"/>
              </a:rPr>
              <a:t>: </a:t>
            </a:r>
            <a:r>
              <a:rPr b="1" dirty="0">
                <a:solidFill>
                  <a:srgbClr val="C86414"/>
                </a:solidFill>
                <a:latin typeface="Arial"/>
              </a:rPr>
              <a:t>−0.286 → −0.150 </a:t>
            </a:r>
            <a:r>
              <a:rPr i="1" dirty="0">
                <a:solidFill>
                  <a:srgbClr val="358CAF"/>
                </a:solidFill>
                <a:latin typeface="Arial"/>
              </a:rPr>
              <a:t>(large effect)</a:t>
            </a:r>
          </a:p>
          <a:p>
            <a:pPr algn="ctr">
              <a:spcBef>
                <a:spcPts val="600"/>
              </a:spcBef>
            </a:pPr>
            <a:r>
              <a:rPr dirty="0">
                <a:solidFill>
                  <a:srgbClr val="3C3C3C"/>
                </a:solidFill>
                <a:latin typeface="Arial"/>
              </a:rPr>
              <a:t>RFI: </a:t>
            </a:r>
            <a:r>
              <a:rPr b="1" dirty="0">
                <a:solidFill>
                  <a:srgbClr val="C86414"/>
                </a:solidFill>
                <a:latin typeface="Arial"/>
              </a:rPr>
              <a:t>−0.234 → −0.145 </a:t>
            </a:r>
            <a:r>
              <a:rPr i="1" dirty="0">
                <a:solidFill>
                  <a:srgbClr val="358CAF"/>
                </a:solidFill>
                <a:latin typeface="Arial"/>
              </a:rPr>
              <a:t>(Cohen's d = −2.65)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8789" y="5586551"/>
            <a:ext cx="11274551" cy="914400"/>
          </a:xfrm>
          <a:prstGeom prst="roundRect">
            <a:avLst/>
          </a:prstGeom>
          <a:solidFill>
            <a:srgbClr val="FFF0E6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62A41"/>
                </a:solidFill>
                <a:latin typeface="Arial"/>
              </a:defRPr>
            </a:pPr>
            <a:r>
              <a:rPr dirty="0"/>
              <a:t>Despite equivalent reconstruction, the learned representations differ significantly across latent and geometric analyses.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840" y="252549"/>
            <a:ext cx="864210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200" b="1" i="0" u="none" dirty="0">
                <a:solidFill>
                  <a:srgbClr val="0F172A"/>
                </a:solidFill>
                <a:latin typeface="Merriweather"/>
              </a:rPr>
              <a:t>GLAS Dataset: Equivalent Reconstruction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49097" y="1105984"/>
            <a:ext cx="27494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58CAF"/>
                </a:solidFill>
                <a:latin typeface="Arial"/>
              </a:defRPr>
            </a:pPr>
            <a:r>
              <a:rPr dirty="0"/>
              <a:t>Reconstruction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214037"/>
              </p:ext>
            </p:extLst>
          </p:nvPr>
        </p:nvGraphicFramePr>
        <p:xfrm>
          <a:off x="5757956" y="1504403"/>
          <a:ext cx="60350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58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Dice ↑</a:t>
                      </a:r>
                    </a:p>
                  </a:txBody>
                  <a:tcPr>
                    <a:solidFill>
                      <a:srgbClr val="358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HD95 ↓</a:t>
                      </a:r>
                    </a:p>
                  </a:txBody>
                  <a:tcPr>
                    <a:solidFill>
                      <a:srgbClr val="358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ASD ↓</a:t>
                      </a:r>
                    </a:p>
                  </a:txBody>
                  <a:tcPr>
                    <a:solidFill>
                      <a:srgbClr val="358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SIREN-128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dirty="0"/>
                        <a:t>0.995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dirty="0"/>
                        <a:t>1.85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0.151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SIREN-128 + Eikonal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0.995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2.15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0.184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SIREN-128 + Jacobian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0.995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2.08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0.177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dirty="0"/>
                        <a:t>SIREN-128 </a:t>
                      </a:r>
                      <a:r>
                        <a:rPr dirty="0" err="1"/>
                        <a:t>LowOmega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ω</a:t>
                      </a:r>
                      <a:r>
                        <a:rPr dirty="0"/>
                        <a:t>₀=15)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dirty="0"/>
                        <a:t>0.986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5.43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dirty="0"/>
                        <a:t>0.591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87830" y="5486400"/>
            <a:ext cx="9416142" cy="731520"/>
          </a:xfrm>
          <a:prstGeom prst="roundRect">
            <a:avLst/>
          </a:prstGeom>
          <a:solidFill>
            <a:srgbClr val="E6F5FA"/>
          </a:solidFill>
          <a:ln w="19050">
            <a:solidFill>
              <a:srgbClr val="358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62A41"/>
                </a:solidFill>
                <a:latin typeface="Arial"/>
              </a:defRPr>
            </a:pPr>
            <a:r>
              <a:rPr lang="en-US" dirty="0"/>
              <a:t>Standard reconstruction metrics suggest that all four models are equivalent.</a:t>
            </a:r>
          </a:p>
        </p:txBody>
      </p:sp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3EA4A6B6-0CFA-8748-ACB5-231933938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49833"/>
            <a:ext cx="4577443" cy="28441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BAABEB-F31E-6DF4-681F-9D48DC15725E}"/>
              </a:ext>
            </a:extLst>
          </p:cNvPr>
          <p:cNvSpPr txBox="1"/>
          <p:nvPr/>
        </p:nvSpPr>
        <p:spPr>
          <a:xfrm>
            <a:off x="402766" y="1512143"/>
            <a:ext cx="4767943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200" b="1" i="0" u="none" dirty="0">
                <a:solidFill>
                  <a:srgbClr val="8B5CF6"/>
                </a:solidFill>
                <a:latin typeface="Merriweather"/>
              </a:rPr>
              <a:t>&lt; 0.0001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BCD180-6E30-7F54-AD7C-440AA330D212}"/>
              </a:ext>
            </a:extLst>
          </p:cNvPr>
          <p:cNvSpPr txBox="1"/>
          <p:nvPr/>
        </p:nvSpPr>
        <p:spPr>
          <a:xfrm>
            <a:off x="1578429" y="2885107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u="none" dirty="0">
                <a:solidFill>
                  <a:srgbClr val="94A3B8"/>
                </a:solidFill>
                <a:latin typeface="DM Sans"/>
              </a:rPr>
              <a:t>TOST P-VALUE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07CF8A-E8C3-D266-6E0A-F88CEF32CE1C}"/>
              </a:ext>
            </a:extLst>
          </p:cNvPr>
          <p:cNvSpPr txBox="1"/>
          <p:nvPr/>
        </p:nvSpPr>
        <p:spPr>
          <a:xfrm>
            <a:off x="1458686" y="3331422"/>
            <a:ext cx="2862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1" u="none" dirty="0">
                <a:solidFill>
                  <a:srgbClr val="64748B"/>
                </a:solidFill>
                <a:latin typeface="DM Sans"/>
              </a:rPr>
              <a:t> All pairs equivalent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7272" y="67489"/>
            <a:ext cx="699903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2A41"/>
                </a:solidFill>
                <a:latin typeface="Georgia"/>
              </a:defRPr>
            </a:pPr>
            <a:r>
              <a:rPr sz="3200" dirty="0"/>
              <a:t>GLAS: Representational Fidelity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6131" y="679266"/>
            <a:ext cx="273664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28C28"/>
                </a:solidFill>
                <a:latin typeface="Arial"/>
              </a:defRPr>
            </a:pPr>
            <a:r>
              <a:rPr dirty="0"/>
              <a:t>Representation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034079"/>
              </p:ext>
            </p:extLst>
          </p:nvPr>
        </p:nvGraphicFramePr>
        <p:xfrm>
          <a:off x="578533" y="1037712"/>
          <a:ext cx="6116181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7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9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8552"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/>
                        <a:t>Model</a:t>
                      </a:r>
                    </a:p>
                  </a:txBody>
                  <a:tcPr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RFI ↓</a:t>
                      </a:r>
                    </a:p>
                  </a:txBody>
                  <a:tcPr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Effective Rank ↑</a:t>
                      </a:r>
                    </a:p>
                  </a:txBody>
                  <a:tcPr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Participation Ratio ↑</a:t>
                      </a:r>
                    </a:p>
                  </a:txBody>
                  <a:tcPr>
                    <a:solidFill>
                      <a:srgbClr val="F28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458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SIREN-128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−0.303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74.44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51.73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552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SIREN-128 + Eikonal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−0.296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74.08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51.41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552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SIREN-128 + Jacobian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−0.322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74.29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51.58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645"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C86414"/>
                          </a:solidFill>
                          <a:latin typeface="Arial"/>
                        </a:defRPr>
                      </a:pPr>
                      <a:r>
                        <a:t>SIREN-128 LowOmega (ω₀=15)</a:t>
                      </a:r>
                    </a:p>
                  </a:txBody>
                  <a:tcPr>
                    <a:solidFill>
                      <a:srgbClr val="FFE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C86414"/>
                          </a:solidFill>
                          <a:latin typeface="Arial"/>
                        </a:defRPr>
                      </a:pPr>
                      <a:r>
                        <a:t>+0.920</a:t>
                      </a:r>
                    </a:p>
                  </a:txBody>
                  <a:tcPr>
                    <a:solidFill>
                      <a:srgbClr val="FFE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C86414"/>
                          </a:solidFill>
                          <a:latin typeface="Arial"/>
                        </a:defRPr>
                      </a:pPr>
                      <a:r>
                        <a:t>43.54</a:t>
                      </a:r>
                    </a:p>
                  </a:txBody>
                  <a:tcPr>
                    <a:solidFill>
                      <a:srgbClr val="FFE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C86414"/>
                          </a:solidFill>
                          <a:latin typeface="Arial"/>
                        </a:defRPr>
                      </a:pPr>
                      <a:r>
                        <a:rPr dirty="0"/>
                        <a:t>28.46</a:t>
                      </a:r>
                    </a:p>
                  </a:txBody>
                  <a:tcPr>
                    <a:solidFill>
                      <a:srgbClr val="FFEB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24904" y="668374"/>
            <a:ext cx="259558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28C28"/>
                </a:solidFill>
                <a:latin typeface="Arial"/>
              </a:defRPr>
            </a:pPr>
            <a:r>
              <a:rPr dirty="0"/>
              <a:t>Structural Differences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0167"/>
              </p:ext>
            </p:extLst>
          </p:nvPr>
        </p:nvGraphicFramePr>
        <p:xfrm>
          <a:off x="7077306" y="1066793"/>
          <a:ext cx="4873752" cy="224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/>
                        <a:t>Metric</a:t>
                      </a:r>
                    </a:p>
                  </a:txBody>
                  <a:tcPr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/>
                        <a:t>SIREN-128</a:t>
                      </a:r>
                    </a:p>
                  </a:txBody>
                  <a:tcPr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LowOmega</a:t>
                      </a:r>
                    </a:p>
                  </a:txBody>
                  <a:tcPr>
                    <a:solidFill>
                      <a:srgbClr val="F28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Gradient Error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10.58°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C86414"/>
                          </a:solidFill>
                          <a:latin typeface="Arial"/>
                        </a:defRPr>
                      </a:pPr>
                      <a:r>
                        <a:t>12.45°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Curvature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1.010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C86414"/>
                          </a:solidFill>
                          <a:latin typeface="Arial"/>
                        </a:defRPr>
                      </a:pPr>
                      <a:r>
                        <a:t>1.042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GeoIndex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−0.131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C86414"/>
                          </a:solidFill>
                          <a:latin typeface="Arial"/>
                        </a:defRPr>
                      </a:pPr>
                      <a:r>
                        <a:t>0.462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dirty="0" err="1"/>
                        <a:t>LatentIndex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−0.475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C86414"/>
                          </a:solidFill>
                          <a:latin typeface="Arial"/>
                        </a:defRPr>
                      </a:pPr>
                      <a:r>
                        <a:rPr dirty="0"/>
                        <a:t>1.379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8788" y="4400442"/>
            <a:ext cx="11274552" cy="113385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"/>
              </a:spcBef>
              <a:defRPr sz="1800" b="1">
                <a:solidFill>
                  <a:srgbClr val="C86414"/>
                </a:solidFill>
                <a:latin typeface="Arial"/>
              </a:defRPr>
            </a:pPr>
            <a:r>
              <a:rPr dirty="0"/>
              <a:t>✓ 41% reduction in Effective Rank      ✓ ≈45% reduction in Participation Ratio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C86414"/>
                </a:solidFill>
                <a:latin typeface="Arial"/>
              </a:defRPr>
            </a:pPr>
            <a:r>
              <a:rPr dirty="0"/>
              <a:t>✓ RFI shifted from −0.303 to +0.920      ✓ Non-overlapping 95% confidence intervals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8788" y="5695411"/>
            <a:ext cx="11274552" cy="914400"/>
          </a:xfrm>
          <a:prstGeom prst="roundRect">
            <a:avLst/>
          </a:prstGeom>
          <a:solidFill>
            <a:srgbClr val="FFF0E6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62A41"/>
                </a:solidFill>
                <a:latin typeface="Arial"/>
              </a:defRPr>
            </a:pPr>
            <a:r>
              <a:rPr dirty="0"/>
              <a:t>Equivalent reconstruction concealed substantial degradation in geometric fidelity and latent representation quality.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83030" y="246014"/>
            <a:ext cx="52643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Across Datasets</a:t>
            </a:r>
            <a:endParaRPr lang="en-US" sz="2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385940"/>
              </p:ext>
            </p:extLst>
          </p:nvPr>
        </p:nvGraphicFramePr>
        <p:xfrm>
          <a:off x="293916" y="1180010"/>
          <a:ext cx="7511141" cy="2057400"/>
        </p:xfrm>
        <a:graphic>
          <a:graphicData uri="http://schemas.openxmlformats.org/drawingml/2006/table">
            <a:tbl>
              <a:tblPr/>
              <a:tblGrid>
                <a:gridCol w="2514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2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          Dataset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Reconstruction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lang="en-US" sz="1400" dirty="0"/>
                        <a:t>DRIVE (Retinal Vessels)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E87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Significantly Different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lang="en-US" sz="1400" dirty="0"/>
                        <a:t>GLAS (Gland Structures)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E87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Significantly Different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496523" y="2562281"/>
            <a:ext cx="3135085" cy="2630206"/>
          </a:xfrm>
          <a:prstGeom prst="roundRect">
            <a:avLst>
              <a:gd name="adj" fmla="val 9344"/>
            </a:avLst>
          </a:prstGeom>
          <a:solidFill>
            <a:srgbClr val="1B3358"/>
          </a:solidFill>
          <a:ln w="12700">
            <a:solidFill>
              <a:srgbClr val="2E4A78"/>
            </a:solidFill>
            <a:prstDash val="solid"/>
          </a:ln>
          <a:effectLst>
            <a:outerShdw blurRad="76200" dist="25400" dir="5400000" algn="bl" rotWithShape="0">
              <a:srgbClr val="0B1626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95069" y="3035805"/>
            <a:ext cx="3410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2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636727" y="3975460"/>
            <a:ext cx="2862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confirm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divergence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83030" y="5791196"/>
            <a:ext cx="7522027" cy="766360"/>
          </a:xfrm>
          <a:prstGeom prst="roundRect">
            <a:avLst>
              <a:gd name="adj" fmla="val 10588"/>
            </a:avLst>
          </a:prstGeom>
          <a:solidFill>
            <a:srgbClr val="E7F1F6"/>
          </a:solidFill>
          <a:ln w="12700">
            <a:solidFill>
              <a:srgbClr val="BFDCE8"/>
            </a:solidFill>
            <a:prstDash val="solid"/>
          </a:ln>
          <a:effectLst>
            <a:outerShdw blurRad="76200" dist="25400" dir="5400000" algn="bl" rotWithShape="0">
              <a:srgbClr val="0B1626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93915" y="5802088"/>
            <a:ext cx="751114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phenomenon replicates across anatomically distinct datasets.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77C151-ED9A-4F8B-1478-BA03F39C6A96}"/>
              </a:ext>
            </a:extLst>
          </p:cNvPr>
          <p:cNvSpPr/>
          <p:nvPr/>
        </p:nvSpPr>
        <p:spPr>
          <a:xfrm>
            <a:off x="293916" y="4595950"/>
            <a:ext cx="7511141" cy="731520"/>
          </a:xfrm>
          <a:prstGeom prst="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i="1" dirty="0">
                <a:solidFill>
                  <a:srgbClr val="162A41"/>
                </a:solidFill>
                <a:latin typeface="Arial"/>
              </a:rPr>
              <a:t>Equivalent reconstruction does not imply equivalent learned representations.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3472" y="267786"/>
            <a:ext cx="41454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This Happen?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915988" y="1099452"/>
            <a:ext cx="4754880" cy="4114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rPr lang="en-US" sz="1600" dirty="0"/>
              <a:t>Model A </a:t>
            </a:r>
            <a:endParaRPr lang="el-GR" sz="1600" dirty="0"/>
          </a:p>
        </p:txBody>
      </p:sp>
      <p:sp>
        <p:nvSpPr>
          <p:cNvPr id="5" name="Rectangle 4"/>
          <p:cNvSpPr/>
          <p:nvPr/>
        </p:nvSpPr>
        <p:spPr>
          <a:xfrm>
            <a:off x="6521260" y="1110338"/>
            <a:ext cx="4754880" cy="411480"/>
          </a:xfrm>
          <a:prstGeom prst="rect">
            <a:avLst/>
          </a:prstGeom>
          <a:solidFill>
            <a:srgbClr val="35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rPr lang="en-US" sz="1600" dirty="0"/>
              <a:t>Model B </a:t>
            </a:r>
            <a:endParaRPr lang="el-GR"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915988" y="1680749"/>
            <a:ext cx="4754880" cy="4572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3C3C3C"/>
                </a:solidFill>
                <a:latin typeface="Arial"/>
              </a:defRPr>
            </a:pPr>
            <a:r>
              <a:rPr sz="1400" dirty="0"/>
              <a:t>Reduced feature diversity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21260" y="1669865"/>
            <a:ext cx="4754880" cy="4572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3C3C3C"/>
                </a:solidFill>
                <a:latin typeface="Arial"/>
              </a:defRPr>
            </a:pPr>
            <a:r>
              <a:rPr sz="1400" dirty="0"/>
              <a:t>Greater feature diversity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0144" y="2059578"/>
            <a:ext cx="3465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28C28"/>
                </a:solidFill>
              </a:defRPr>
            </a:pPr>
            <a:r>
              <a:rPr sz="1400" dirty="0"/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25416" y="2070462"/>
            <a:ext cx="3465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58CAF"/>
                </a:solidFill>
              </a:defRPr>
            </a:pPr>
            <a:r>
              <a:rPr sz="1400" dirty="0"/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5988" y="2299060"/>
            <a:ext cx="4754880" cy="4572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3C3C3C"/>
                </a:solidFill>
                <a:latin typeface="Arial"/>
              </a:defRPr>
            </a:pPr>
            <a:r>
              <a:rPr sz="1400" dirty="0"/>
              <a:t>Fewer active feature directions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1260" y="2309942"/>
            <a:ext cx="4754880" cy="4572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3C3C3C"/>
                </a:solidFill>
                <a:latin typeface="Arial"/>
              </a:defRPr>
            </a:pPr>
            <a:r>
              <a:rPr sz="1400" dirty="0"/>
              <a:t>More active feature directions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0144" y="2688772"/>
            <a:ext cx="3465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28C28"/>
                </a:solidFill>
              </a:defRPr>
            </a:pPr>
            <a:r>
              <a:rPr sz="1400" dirty="0"/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5416" y="2710543"/>
            <a:ext cx="3465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58CAF"/>
                </a:solidFill>
              </a:defRPr>
            </a:pPr>
            <a:r>
              <a:rPr sz="1400" dirty="0"/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5988" y="2928254"/>
            <a:ext cx="4754880" cy="4572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C86414"/>
                </a:solidFill>
                <a:latin typeface="Arial"/>
              </a:defRPr>
            </a:pPr>
            <a:r>
              <a:rPr sz="1400" dirty="0"/>
              <a:t>Lower effective rank (observed)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21260" y="2950029"/>
            <a:ext cx="4754880" cy="4572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62A41"/>
                </a:solidFill>
                <a:latin typeface="Arial"/>
              </a:defRPr>
            </a:pPr>
            <a:r>
              <a:rPr sz="1400" dirty="0"/>
              <a:t>Higher effective rank (observed)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0144" y="3317967"/>
            <a:ext cx="3465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28C28"/>
                </a:solidFill>
              </a:defRPr>
            </a:pPr>
            <a:r>
              <a:rPr sz="1400" dirty="0"/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25416" y="3339737"/>
            <a:ext cx="3465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58CAF"/>
                </a:solidFill>
              </a:defRPr>
            </a:pPr>
            <a:r>
              <a:rPr sz="1400" dirty="0"/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988" y="3546565"/>
            <a:ext cx="4754880" cy="4572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C86414"/>
                </a:solidFill>
                <a:latin typeface="Arial"/>
              </a:defRPr>
            </a:pPr>
            <a:r>
              <a:rPr sz="1400" dirty="0"/>
              <a:t>Reduced latent representation richness (observed)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21260" y="3568336"/>
            <a:ext cx="4754880" cy="4572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62A41"/>
                </a:solidFill>
                <a:latin typeface="Arial"/>
              </a:defRPr>
            </a:pPr>
            <a:r>
              <a:rPr sz="1400" dirty="0"/>
              <a:t>Richer latent representation (observed)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0144" y="3936273"/>
            <a:ext cx="3465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28C28"/>
                </a:solidFill>
              </a:defRPr>
            </a:pPr>
            <a:r>
              <a:rPr sz="1400" dirty="0"/>
              <a:t>↓</a:t>
            </a:r>
            <a:endParaRPr 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8725416" y="3947155"/>
            <a:ext cx="3465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58CAF"/>
                </a:solidFill>
              </a:defRPr>
            </a:pPr>
            <a:r>
              <a:rPr sz="1400" dirty="0"/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988" y="4175754"/>
            <a:ext cx="4754880" cy="457200"/>
          </a:xfrm>
          <a:prstGeom prst="roundRect">
            <a:avLst/>
          </a:prstGeom>
          <a:solidFill>
            <a:srgbClr val="FFF2E6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C86414"/>
                </a:solidFill>
                <a:latin typeface="Arial"/>
              </a:defRPr>
            </a:pPr>
            <a:r>
              <a:rPr lang="en-US" dirty="0"/>
              <a:t>Equivalent reconstruction despite reduced representational fidelity</a:t>
            </a:r>
            <a:endParaRPr sz="1400" dirty="0"/>
          </a:p>
        </p:txBody>
      </p:sp>
      <p:sp>
        <p:nvSpPr>
          <p:cNvPr id="23" name="Rounded Rectangle 22"/>
          <p:cNvSpPr/>
          <p:nvPr/>
        </p:nvSpPr>
        <p:spPr>
          <a:xfrm>
            <a:off x="6521260" y="4175758"/>
            <a:ext cx="4754880" cy="457200"/>
          </a:xfrm>
          <a:prstGeom prst="roundRect">
            <a:avLst/>
          </a:prstGeom>
          <a:solidFill>
            <a:srgbClr val="EBF7FC"/>
          </a:solidFill>
          <a:ln w="19050">
            <a:solidFill>
              <a:srgbClr val="358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62A41"/>
                </a:solidFill>
                <a:latin typeface="Arial"/>
              </a:defRPr>
            </a:pPr>
            <a:r>
              <a:rPr lang="en-US" dirty="0"/>
              <a:t>Equivalent reconstruction with higher representational fidelity</a:t>
            </a:r>
            <a:endParaRPr sz="1400" dirty="0"/>
          </a:p>
        </p:txBody>
      </p:sp>
      <p:sp>
        <p:nvSpPr>
          <p:cNvPr id="24" name="Rounded Rectangle 23"/>
          <p:cNvSpPr/>
          <p:nvPr/>
        </p:nvSpPr>
        <p:spPr>
          <a:xfrm>
            <a:off x="915988" y="5092335"/>
            <a:ext cx="10360152" cy="822960"/>
          </a:xfrm>
          <a:prstGeom prst="roundRect">
            <a:avLst/>
          </a:prstGeom>
          <a:solidFill>
            <a:srgbClr val="EBF7FC"/>
          </a:solidFill>
          <a:ln w="19050">
            <a:solidFill>
              <a:srgbClr val="16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62A41"/>
                </a:solidFill>
                <a:latin typeface="Arial"/>
              </a:defRPr>
            </a:pPr>
            <a:r>
              <a:rPr lang="en-US" dirty="0"/>
              <a:t>Equivalent reconstruction may arise from fundamentally different internal representations because reconstruction evaluates the final output, not how anatomical information is organized within the learned feature space.</a:t>
            </a:r>
            <a:endParaRPr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7017" y="343988"/>
            <a:ext cx="282962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A41"/>
                </a:solidFill>
                <a:latin typeface="Georgia"/>
              </a:defRPr>
            </a:pPr>
            <a:r>
              <a:rPr sz="2800" dirty="0"/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90308" y="1188720"/>
            <a:ext cx="4389120" cy="109728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62A41"/>
                </a:solidFill>
                <a:latin typeface="Arial"/>
              </a:defRPr>
            </a:pPr>
            <a:r>
              <a:rPr sz="1600" dirty="0"/>
              <a:t>Current Paradigm</a:t>
            </a:r>
          </a:p>
          <a:p>
            <a:pPr>
              <a:spcBef>
                <a:spcPts val="600"/>
              </a:spcBef>
              <a:defRPr sz="1400" b="1">
                <a:solidFill>
                  <a:srgbClr val="DC3232"/>
                </a:solidFill>
                <a:latin typeface="Arial"/>
              </a:defRPr>
            </a:pPr>
            <a:r>
              <a:rPr sz="1400" dirty="0"/>
              <a:t>Model quality inferred from reconstruction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32921" y="1508761"/>
            <a:ext cx="49885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58CAF"/>
                </a:solidFill>
              </a:defRPr>
            </a:pPr>
            <a:r>
              <a:rPr sz="2400"/>
              <a:t>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12700" y="1188720"/>
            <a:ext cx="4389120" cy="1097280"/>
          </a:xfrm>
          <a:prstGeom prst="roundRect">
            <a:avLst/>
          </a:prstGeom>
          <a:solidFill>
            <a:srgbClr val="EBF7FC"/>
          </a:solidFill>
          <a:ln w="25400">
            <a:solidFill>
              <a:srgbClr val="358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58CAF"/>
                </a:solidFill>
                <a:latin typeface="Arial"/>
              </a:defRPr>
            </a:pPr>
            <a:r>
              <a:rPr sz="1600" dirty="0"/>
              <a:t>Proposed Paradigm</a:t>
            </a:r>
          </a:p>
          <a:p>
            <a:pPr>
              <a:spcBef>
                <a:spcPts val="600"/>
              </a:spcBef>
              <a:defRPr sz="1400" b="1">
                <a:solidFill>
                  <a:srgbClr val="2E8B57"/>
                </a:solidFill>
                <a:latin typeface="Arial"/>
              </a:defRPr>
            </a:pPr>
            <a:r>
              <a:rPr sz="1400" dirty="0"/>
              <a:t>Model quality evaluated through reconstruction and representational fidelity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0308" y="2479766"/>
            <a:ext cx="9811512" cy="162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A41"/>
                </a:solidFill>
                <a:latin typeface="Arial"/>
              </a:defRPr>
            </a:pPr>
            <a:r>
              <a:rPr dirty="0"/>
              <a:t>Findings</a:t>
            </a:r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2E8B57"/>
                </a:solidFill>
                <a:latin typeface="Arial"/>
              </a:rPr>
              <a:t>✓  </a:t>
            </a:r>
            <a:r>
              <a:rPr sz="1500" dirty="0">
                <a:solidFill>
                  <a:srgbClr val="3C3C3C"/>
                </a:solidFill>
                <a:latin typeface="Arial"/>
              </a:rPr>
              <a:t>Equivalent reconstruction does not imply equivalent learned representations.</a:t>
            </a:r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2E8B57"/>
                </a:solidFill>
                <a:latin typeface="Arial"/>
              </a:rPr>
              <a:t>✓  </a:t>
            </a:r>
            <a:r>
              <a:rPr sz="1500" dirty="0">
                <a:solidFill>
                  <a:srgbClr val="3C3C3C"/>
                </a:solidFill>
                <a:latin typeface="Arial"/>
              </a:rPr>
              <a:t>RFI quantifies representational fidelity beyond reconstruction metrics.</a:t>
            </a:r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2E8B57"/>
                </a:solidFill>
                <a:latin typeface="Arial"/>
              </a:rPr>
              <a:t>✓  </a:t>
            </a:r>
            <a:r>
              <a:rPr sz="1500" dirty="0">
                <a:solidFill>
                  <a:srgbClr val="3C3C3C"/>
                </a:solidFill>
                <a:latin typeface="Arial"/>
              </a:rPr>
              <a:t>The phenomenon was consistently observed across DRIVE and GLAS datasets.</a:t>
            </a:r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2E8B57"/>
                </a:solidFill>
                <a:latin typeface="Arial"/>
              </a:rPr>
              <a:t>✓  </a:t>
            </a:r>
            <a:r>
              <a:rPr sz="1500" dirty="0">
                <a:solidFill>
                  <a:srgbClr val="3C3C3C"/>
                </a:solidFill>
                <a:latin typeface="Arial"/>
              </a:rPr>
              <a:t>Representation</a:t>
            </a:r>
            <a:r>
              <a:rPr lang="en-US" sz="1500" dirty="0">
                <a:solidFill>
                  <a:srgbClr val="3C3C3C"/>
                </a:solidFill>
                <a:latin typeface="Arial"/>
              </a:rPr>
              <a:t>-</a:t>
            </a:r>
            <a:r>
              <a:rPr sz="1500" dirty="0">
                <a:solidFill>
                  <a:srgbClr val="3C3C3C"/>
                </a:solidFill>
                <a:latin typeface="Arial"/>
              </a:rPr>
              <a:t>aware evaluation provides a more complete assessment of continuous neural representations.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72444" y="4619896"/>
            <a:ext cx="10360152" cy="1005840"/>
          </a:xfrm>
          <a:prstGeom prst="rect">
            <a:avLst/>
          </a:prstGeom>
          <a:solidFill>
            <a:srgbClr val="16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rPr sz="2200" dirty="0"/>
              <a:t>Accurate reconstruction does not necessarily imply faithful learned representations.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1294" y="5806441"/>
            <a:ext cx="60495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 i="1">
                <a:solidFill>
                  <a:srgbClr val="358CAF"/>
                </a:solidFill>
                <a:latin typeface="Arial"/>
              </a:defRPr>
            </a:pPr>
            <a:r>
              <a:rPr sz="1400" dirty="0"/>
              <a:t>Toward representation</a:t>
            </a:r>
            <a:r>
              <a:rPr lang="en-US" sz="1400" dirty="0"/>
              <a:t>-</a:t>
            </a:r>
            <a:r>
              <a:rPr sz="1400" dirty="0"/>
              <a:t>aware evaluation for more reliable medical AI.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51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686175"/>
            <a:ext cx="9525000" cy="2962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2975" y="4124325"/>
            <a:ext cx="1714500" cy="1714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5375" y="356507"/>
            <a:ext cx="100012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375" b="1" i="0" u="none">
                <a:solidFill>
                  <a:srgbClr val="FFFFFF"/>
                </a:solidFill>
                <a:latin typeface="Poppins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714500"/>
            <a:ext cx="9525000" cy="923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2400" b="0" i="1" u="none">
                <a:solidFill>
                  <a:srgbClr val="CBD5E1"/>
                </a:solidFill>
                <a:latin typeface="Lato"/>
              </a:rPr>
              <a:t>"Accurate reconstruction does not necessarily</a:t>
            </a:r>
            <a:r>
              <a:t>
</a:t>
            </a:r>
            <a:r>
              <a:rPr sz="2400" b="0" i="1" u="none">
                <a:solidFill>
                  <a:srgbClr val="CBD5E1"/>
                </a:solidFill>
                <a:latin typeface="Lato"/>
              </a:rPr>
              <a:t> imply faithful learned representations."</a:t>
            </a:r>
          </a:p>
        </p:txBody>
      </p:sp>
      <p:sp>
        <p:nvSpPr>
          <p:cNvPr id="7" name="Rectangle 6"/>
          <p:cNvSpPr/>
          <p:nvPr/>
        </p:nvSpPr>
        <p:spPr>
          <a:xfrm>
            <a:off x="1333500" y="3105150"/>
            <a:ext cx="9525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14525" y="4276725"/>
            <a:ext cx="6470808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Pronab Kumar Paul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525" y="4848225"/>
            <a:ext cx="6162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4A3B8"/>
                </a:solidFill>
                <a:latin typeface="Lato"/>
              </a:rPr>
              <a:t>University of Rajshahi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0775" y="5391150"/>
            <a:ext cx="5686425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E2E8F0"/>
                </a:solidFill>
                <a:latin typeface="Lato"/>
              </a:rPr>
              <a:t>pronabpaul77@gmail.com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0775" y="5810250"/>
            <a:ext cx="5686425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E2E8F0"/>
                </a:solidFill>
                <a:latin typeface="Lato"/>
              </a:rPr>
              <a:t> github.com/pronabpaul/revealing-representational-fidelity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29662" y="6029325"/>
            <a:ext cx="13811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Lato"/>
              </a:rPr>
              <a:t>SCAN TO ACCESS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4525" y="5391150"/>
            <a:ext cx="28575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4525" y="5810250"/>
            <a:ext cx="28575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7275" y="4238625"/>
            <a:ext cx="1485900" cy="148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32DA465-19C8-D48F-0088-A1B62898D4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7990" y="4063654"/>
            <a:ext cx="1892143" cy="18173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1772</TotalTime>
  <Words>1017</Words>
  <Application>Microsoft Macintosh PowerPoint</Application>
  <PresentationFormat>Widescreen</PresentationFormat>
  <Paragraphs>272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0" baseType="lpstr">
      <vt:lpstr>Arial</vt:lpstr>
      <vt:lpstr>Calibri</vt:lpstr>
      <vt:lpstr>Cambria</vt:lpstr>
      <vt:lpstr>Courier New</vt:lpstr>
      <vt:lpstr>DM Sans</vt:lpstr>
      <vt:lpstr>DM Sans Light</vt:lpstr>
      <vt:lpstr>Georgia</vt:lpstr>
      <vt:lpstr>Inter</vt:lpstr>
      <vt:lpstr>Lato</vt:lpstr>
      <vt:lpstr>Merriweather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pronabavipaul7@gmail.com</cp:lastModifiedBy>
  <cp:revision>6</cp:revision>
  <dcterms:created xsi:type="dcterms:W3CDTF">2013-01-27T09:14:16Z</dcterms:created>
  <dcterms:modified xsi:type="dcterms:W3CDTF">2026-07-20T11:26:11Z</dcterms:modified>
  <cp:category/>
</cp:coreProperties>
</file>